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91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233046"/>
                </a:solidFill>
              </a:defRPr>
            </a:pPr>
            <a:r>
              <a:t>FINAL PROJECT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84E91"/>
                </a:solidFill>
              </a:defRPr>
            </a:pPr>
            <a:r>
              <a:t>Exploratory Data Analysis Lanjutan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D2D37"/>
                </a:solidFill>
              </a:defRPr>
            </a:pPr>
            <a:r>
              <a:t>Dataset Iris 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E6E78"/>
                </a:solidFill>
              </a:defRPr>
            </a:pPr>
            <a:r>
              <a:t>Trend • Segmentasi • Outlier • Pattern • Insight • 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7899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E6E78"/>
                </a:solidFill>
              </a:defRPr>
            </a:pPr>
            <a:r>
              <a:rPr dirty="0" err="1" smtClean="0"/>
              <a:t>Devina</a:t>
            </a:r>
            <a:r>
              <a:rPr dirty="0" smtClean="0"/>
              <a:t> </a:t>
            </a:r>
            <a:r>
              <a:rPr dirty="0" err="1" smtClean="0"/>
              <a:t>Ghea</a:t>
            </a:r>
            <a:r>
              <a:rPr dirty="0" smtClean="0"/>
              <a:t> Amanda / XII TJKT / SMK </a:t>
            </a:r>
            <a:r>
              <a:rPr dirty="0" err="1" smtClean="0"/>
              <a:t>Negeri</a:t>
            </a:r>
            <a:r>
              <a:rPr dirty="0" smtClean="0"/>
              <a:t> 2 Surakarta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3046"/>
                </a:solidFill>
              </a:defRPr>
            </a:pPr>
            <a:r>
              <a:t>1. Gambaran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78"/>
                </a:solidFill>
              </a:defRPr>
            </a:pPr>
            <a:r>
              <a:t>Mengenal struktur dan karakteristik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37"/>
                </a:solidFill>
              </a:defRPr>
            </a:pPr>
            <a:r>
              <a:t>Dataset yang digunakan adalah Iris Dataset.</a:t>
            </a:r>
          </a:p>
          <a:p>
            <a:pPr>
              <a:spcAft>
                <a:spcPts val="1000"/>
              </a:spcAft>
              <a:defRPr sz="1800">
                <a:solidFill>
                  <a:srgbClr val="2D2D37"/>
                </a:solidFill>
              </a:defRPr>
            </a:pPr>
            <a:r>
              <a:t>Jumlah data: 150 observasi.</a:t>
            </a:r>
          </a:p>
          <a:p>
            <a:pPr>
              <a:spcAft>
                <a:spcPts val="1000"/>
              </a:spcAft>
              <a:defRPr sz="1800">
                <a:solidFill>
                  <a:srgbClr val="2D2D37"/>
                </a:solidFill>
              </a:defRPr>
            </a:pPr>
            <a:r>
              <a:t>Jumlah species: 3, yaitu setosa, versicolor, dan virginica.</a:t>
            </a:r>
          </a:p>
          <a:p>
            <a:pPr>
              <a:spcAft>
                <a:spcPts val="1000"/>
              </a:spcAft>
              <a:defRPr sz="1800">
                <a:solidFill>
                  <a:srgbClr val="2D2D37"/>
                </a:solidFill>
              </a:defRPr>
            </a:pPr>
            <a:r>
              <a:t>Setiap species memiliki 50 observasi.</a:t>
            </a:r>
          </a:p>
          <a:p>
            <a:pPr>
              <a:spcAft>
                <a:spcPts val="1000"/>
              </a:spcAft>
              <a:defRPr sz="1800">
                <a:solidFill>
                  <a:srgbClr val="2D2D37"/>
                </a:solidFill>
              </a:defRPr>
            </a:pPr>
            <a:r>
              <a:t>Terdapat 4 variabel numerik: sepal length, sepal width, petal length, dan petal width.</a:t>
            </a:r>
          </a:p>
          <a:p>
            <a:pPr>
              <a:spcAft>
                <a:spcPts val="1000"/>
              </a:spcAft>
              <a:defRPr sz="1800">
                <a:solidFill>
                  <a:srgbClr val="2D2D37"/>
                </a:solidFill>
              </a:defRPr>
            </a:pPr>
            <a:r>
              <a:t>Dataset tidak memiliki missing value.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3046"/>
                </a:solidFill>
              </a:defRPr>
            </a:pPr>
            <a:r>
              <a:t>2. Statistik Deskriptif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78"/>
                </a:solidFill>
              </a:defRPr>
            </a:pPr>
            <a:r>
              <a:t>Ringkasan karakteristik variabel numerik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554480"/>
          <a:ext cx="103327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6544"/>
                <a:gridCol w="2066544"/>
                <a:gridCol w="2066544"/>
                <a:gridCol w="2066544"/>
                <a:gridCol w="2066544"/>
              </a:tblGrid>
              <a:tr h="69494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Variabel</a:t>
                      </a:r>
                    </a:p>
                  </a:txBody>
                  <a:tcPr>
                    <a:solidFill>
                      <a:srgbClr val="684E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Mean</a:t>
                      </a:r>
                    </a:p>
                  </a:txBody>
                  <a:tcPr>
                    <a:solidFill>
                      <a:srgbClr val="684E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Median</a:t>
                      </a:r>
                    </a:p>
                  </a:txBody>
                  <a:tcPr>
                    <a:solidFill>
                      <a:srgbClr val="684E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Min</a:t>
                      </a:r>
                    </a:p>
                  </a:txBody>
                  <a:tcPr>
                    <a:solidFill>
                      <a:srgbClr val="684E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684E91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37"/>
                          </a:solidFill>
                        </a:defRPr>
                      </a:pPr>
                      <a:r>
                        <a:t>sepal_length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37"/>
                          </a:solidFill>
                        </a:defRPr>
                      </a:pPr>
                      <a:r>
                        <a:t>5.84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37"/>
                          </a:solidFill>
                        </a:defRPr>
                      </a:pPr>
                      <a:r>
                        <a:t>5.80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37"/>
                          </a:solidFill>
                        </a:defRPr>
                      </a:pPr>
                      <a:r>
                        <a:t>4.30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37"/>
                          </a:solidFill>
                        </a:defRPr>
                      </a:pPr>
                      <a:r>
                        <a:t>7.90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37"/>
                          </a:solidFill>
                        </a:defRPr>
                      </a:pPr>
                      <a:r>
                        <a:t>sepal_width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37"/>
                          </a:solidFill>
                        </a:defRPr>
                      </a:pPr>
                      <a:r>
                        <a:t>3.06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37"/>
                          </a:solidFill>
                        </a:defRPr>
                      </a:pPr>
                      <a:r>
                        <a:t>3.00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37"/>
                          </a:solidFill>
                        </a:defRPr>
                      </a:pPr>
                      <a:r>
                        <a:t>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37"/>
                          </a:solidFill>
                        </a:defRPr>
                      </a:pPr>
                      <a:r>
                        <a:t>4.40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37"/>
                          </a:solidFill>
                        </a:defRPr>
                      </a:pPr>
                      <a:r>
                        <a:t>petal_length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37"/>
                          </a:solidFill>
                        </a:defRPr>
                      </a:pPr>
                      <a:r>
                        <a:t>3.76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37"/>
                          </a:solidFill>
                        </a:defRPr>
                      </a:pPr>
                      <a:r>
                        <a:t>4.35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37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37"/>
                          </a:solidFill>
                        </a:defRPr>
                      </a:pPr>
                      <a:r>
                        <a:t>6.90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37"/>
                          </a:solidFill>
                        </a:defRPr>
                      </a:pPr>
                      <a:r>
                        <a:t>petal_width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37"/>
                          </a:solidFill>
                        </a:defRPr>
                      </a:pPr>
                      <a:r>
                        <a:t>1.20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37"/>
                          </a:solidFill>
                        </a:defRPr>
                      </a:pPr>
                      <a:r>
                        <a:t>1.30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37"/>
                          </a:solidFill>
                        </a:defRPr>
                      </a:pPr>
                      <a: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37"/>
                          </a:solidFill>
                        </a:defRPr>
                      </a:pPr>
                      <a:r>
                        <a:t>2.50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3035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E6E78"/>
                </a:solidFill>
              </a:defRPr>
            </a:pPr>
            <a:r>
              <a:t>Statistik menunjukkan bahwa setiap variabel memiliki rentang nilai yang berbeda.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3046"/>
                </a:solidFill>
              </a:defRPr>
            </a:pPr>
            <a:r>
              <a:t>3. Visualisasi Utama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78"/>
                </a:solidFill>
              </a:defRPr>
            </a:pPr>
            <a:r>
              <a:t>Melihat distribusi dan pola data secara visual</a:t>
            </a:r>
          </a:p>
        </p:txBody>
      </p:sp>
      <p:pic>
        <p:nvPicPr>
          <p:cNvPr id="5" name="Picture 4" descr="Final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486400" cy="3048000"/>
          </a:xfrm>
          <a:prstGeom prst="rect">
            <a:avLst/>
          </a:prstGeom>
        </p:spPr>
      </p:pic>
      <p:pic>
        <p:nvPicPr>
          <p:cNvPr id="6" name="Picture 5" descr="Final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25880"/>
            <a:ext cx="5486400" cy="304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5806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2D37"/>
                </a:solidFill>
              </a:defRPr>
            </a:pPr>
            <a:r>
              <a:t>Distribusi Petal Length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5806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2D37"/>
                </a:solidFill>
              </a:defRPr>
            </a:pPr>
            <a:r>
              <a:t>Petal Length vs Petal Width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3046"/>
                </a:solidFill>
              </a:defRPr>
            </a:pPr>
            <a:r>
              <a:t>3. Visualisasi Utama — Correlation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78"/>
                </a:solidFill>
              </a:defRPr>
            </a:pPr>
            <a:r>
              <a:t>Hubungan antarvariabel numerik</a:t>
            </a:r>
          </a:p>
        </p:txBody>
      </p:sp>
      <p:pic>
        <p:nvPicPr>
          <p:cNvPr id="5" name="Picture 4" descr="Final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486400" cy="47026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82880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84E91"/>
                </a:solidFill>
              </a:defRPr>
            </a:pPr>
            <a:r>
              <a:t>Korelasi terkuat:</a:t>
            </a:r>
            <a:br/>
            <a:r>
              <a:t/>
            </a:r>
            <a:br/>
            <a:r>
              <a:t>Petal Length ↔ Petal Width</a:t>
            </a:r>
            <a:br/>
            <a:r>
              <a:t/>
            </a:r>
            <a:br/>
            <a:r>
              <a:t>r = 0.963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38912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D2D37"/>
                </a:solidFill>
              </a:defRPr>
            </a:pPr>
            <a:r>
              <a:t>Nilai korelasi yang tinggi menunjukkan hubungan linear yang sangat kuat. Namun, korelasi tidak berarti sebab-akibat.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3046"/>
                </a:solidFill>
              </a:defRPr>
            </a:pPr>
            <a:r>
              <a:t>4. Insight Penting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78"/>
                </a:solidFill>
              </a:defRPr>
            </a:pPr>
            <a:r>
              <a:t>Temuan utama dari proses 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37"/>
                </a:solidFill>
              </a:defRPr>
            </a:pPr>
            <a:r>
              <a:t>Dataset memiliki 150 observasi dan 3 species.</a:t>
            </a:r>
          </a:p>
          <a:p>
            <a:pPr>
              <a:spcAft>
                <a:spcPts val="1000"/>
              </a:spcAft>
              <a:defRPr sz="1600">
                <a:solidFill>
                  <a:srgbClr val="2D2D37"/>
                </a:solidFill>
              </a:defRPr>
            </a:pPr>
            <a:r>
              <a:t>Distribusi data antar-species seimbang: masing-masing 50 data.</a:t>
            </a:r>
          </a:p>
          <a:p>
            <a:pPr>
              <a:spcAft>
                <a:spcPts val="1000"/>
              </a:spcAft>
              <a:defRPr sz="1600">
                <a:solidFill>
                  <a:srgbClr val="2D2D37"/>
                </a:solidFill>
              </a:defRPr>
            </a:pPr>
            <a:r>
              <a:t>Tidak ditemukan missing value.</a:t>
            </a:r>
          </a:p>
          <a:p>
            <a:pPr>
              <a:spcAft>
                <a:spcPts val="1000"/>
              </a:spcAft>
              <a:defRPr sz="1600">
                <a:solidFill>
                  <a:srgbClr val="2D2D37"/>
                </a:solidFill>
              </a:defRPr>
            </a:pPr>
            <a:r>
              <a:t>Petal length dan petal width memiliki korelasi paling kuat, sekitar 0,96.</a:t>
            </a:r>
          </a:p>
          <a:p>
            <a:pPr>
              <a:spcAft>
                <a:spcPts val="1000"/>
              </a:spcAft>
              <a:defRPr sz="1600">
                <a:solidFill>
                  <a:srgbClr val="2D2D37"/>
                </a:solidFill>
              </a:defRPr>
            </a:pPr>
            <a:r>
              <a:t>Ukuran petal memberikan pola pemisahan species yang lebih jelas.</a:t>
            </a:r>
          </a:p>
          <a:p>
            <a:pPr>
              <a:spcAft>
                <a:spcPts val="1000"/>
              </a:spcAft>
              <a:defRPr sz="1600">
                <a:solidFill>
                  <a:srgbClr val="2D2D37"/>
                </a:solidFill>
              </a:defRPr>
            </a:pPr>
            <a:r>
              <a:t>Setosa cenderung memiliki ukuran petal paling kecil dibanding dua species lainnya.</a:t>
            </a:r>
          </a:p>
          <a:p>
            <a:pPr>
              <a:spcAft>
                <a:spcPts val="1000"/>
              </a:spcAft>
              <a:defRPr sz="1600">
                <a:solidFill>
                  <a:srgbClr val="2D2D37"/>
                </a:solidFill>
              </a:defRPr>
            </a:pPr>
            <a:r>
              <a:t>Segmentasi dapat membantu mengelompokkan data berdasarkan karakteristik tertentu.</a:t>
            </a:r>
          </a:p>
          <a:p>
            <a:pPr>
              <a:spcAft>
                <a:spcPts val="1000"/>
              </a:spcAft>
              <a:defRPr sz="1600">
                <a:solidFill>
                  <a:srgbClr val="2D2D37"/>
                </a:solidFill>
              </a:defRPr>
            </a:pPr>
            <a:r>
              <a:t>Outlier perlu diperiksa sebelum dianggap sebagai kesalahan.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3046"/>
                </a:solidFill>
              </a:defRPr>
            </a:pPr>
            <a:r>
              <a:t>5. Permasalahan yang Ditemukan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78"/>
                </a:solidFill>
              </a:defRPr>
            </a:pPr>
            <a:r>
              <a:t>Keterbatasan dan hal yang perlu diperhatikan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37"/>
                </a:solidFill>
              </a:defRPr>
            </a:pPr>
            <a:r>
              <a:t>Dataset Iris bukan dataset bisnis sehingga tidak memiliki data penjualan.</a:t>
            </a:r>
          </a:p>
          <a:p>
            <a:pPr>
              <a:spcAft>
                <a:spcPts val="1000"/>
              </a:spcAft>
              <a:defRPr sz="1800">
                <a:solidFill>
                  <a:srgbClr val="2D2D37"/>
                </a:solidFill>
              </a:defRPr>
            </a:pPr>
            <a:r>
              <a:t>Tidak terdapat kolom tanggal sehingga trend waktu tidak dapat dianalisis secara nyata.</a:t>
            </a:r>
          </a:p>
          <a:p>
            <a:pPr>
              <a:spcAft>
                <a:spcPts val="1000"/>
              </a:spcAft>
              <a:defRPr sz="1800">
                <a:solidFill>
                  <a:srgbClr val="2D2D37"/>
                </a:solidFill>
              </a:defRPr>
            </a:pPr>
            <a:r>
              <a:t>Tidak terdapat wilayah, produk, pelanggan, atau kategori bisnis.</a:t>
            </a:r>
          </a:p>
          <a:p>
            <a:pPr>
              <a:spcAft>
                <a:spcPts val="1000"/>
              </a:spcAft>
              <a:defRPr sz="1800">
                <a:solidFill>
                  <a:srgbClr val="2D2D37"/>
                </a:solidFill>
              </a:defRPr>
            </a:pPr>
            <a:r>
              <a:t>Beberapa analisis Week 7 membutuhkan data simulasi atau data turunan.</a:t>
            </a:r>
          </a:p>
          <a:p>
            <a:pPr>
              <a:spcAft>
                <a:spcPts val="1000"/>
              </a:spcAft>
              <a:defRPr sz="1800">
                <a:solidFill>
                  <a:srgbClr val="2D2D37"/>
                </a:solidFill>
              </a:defRPr>
            </a:pPr>
            <a:r>
              <a:t>Outlier tidak boleh langsung dihapus karena belum tentu merupakan kesalahan.</a:t>
            </a:r>
          </a:p>
          <a:p>
            <a:pPr>
              <a:spcAft>
                <a:spcPts val="1000"/>
              </a:spcAft>
              <a:defRPr sz="1800">
                <a:solidFill>
                  <a:srgbClr val="2D2D37"/>
                </a:solidFill>
              </a:defRPr>
            </a:pPr>
            <a:r>
              <a:t>Korelasi tinggi tidak dapat digunakan untuk menyimpulkan hubungan sebab-akibat.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3046"/>
                </a:solidFill>
              </a:defRPr>
            </a:pPr>
            <a:r>
              <a:t>6. Peluang Bisnis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78"/>
                </a:solidFill>
              </a:defRPr>
            </a:pPr>
            <a:r>
              <a:t>Contoh penerapan hasil EDA pada data bisnis nyata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37"/>
                </a:solidFill>
              </a:defRPr>
            </a:pPr>
            <a:r>
              <a:t>Segmentasi pelanggan berdasarkan karakteristik dan perilaku.</a:t>
            </a:r>
          </a:p>
          <a:p>
            <a:pPr>
              <a:spcAft>
                <a:spcPts val="1000"/>
              </a:spcAft>
              <a:defRPr sz="1800">
                <a:solidFill>
                  <a:srgbClr val="2D2D37"/>
                </a:solidFill>
              </a:defRPr>
            </a:pPr>
            <a:r>
              <a:t>Segmentasi produk berdasarkan performa penjualan.</a:t>
            </a:r>
          </a:p>
          <a:p>
            <a:pPr>
              <a:spcAft>
                <a:spcPts val="1000"/>
              </a:spcAft>
              <a:defRPr sz="1800">
                <a:solidFill>
                  <a:srgbClr val="2D2D37"/>
                </a:solidFill>
              </a:defRPr>
            </a:pPr>
            <a:r>
              <a:t>Pemantauan KPI melalui dashboard.</a:t>
            </a:r>
          </a:p>
          <a:p>
            <a:pPr>
              <a:spcAft>
                <a:spcPts val="1000"/>
              </a:spcAft>
              <a:defRPr sz="1800">
                <a:solidFill>
                  <a:srgbClr val="2D2D37"/>
                </a:solidFill>
              </a:defRPr>
            </a:pPr>
            <a:r>
              <a:t>Analisis trend untuk mengetahui pertumbuhan dan penurunan performa.</a:t>
            </a:r>
          </a:p>
          <a:p>
            <a:pPr>
              <a:spcAft>
                <a:spcPts val="1000"/>
              </a:spcAft>
              <a:defRPr sz="1800">
                <a:solidFill>
                  <a:srgbClr val="2D2D37"/>
                </a:solidFill>
              </a:defRPr>
            </a:pPr>
            <a:r>
              <a:t>Deteksi transaksi tidak biasa menggunakan analisis outlier.</a:t>
            </a:r>
          </a:p>
          <a:p>
            <a:pPr>
              <a:spcAft>
                <a:spcPts val="1000"/>
              </a:spcAft>
              <a:defRPr sz="1800">
                <a:solidFill>
                  <a:srgbClr val="2D2D37"/>
                </a:solidFill>
              </a:defRPr>
            </a:pPr>
            <a:r>
              <a:t>Penggunaan variabel yang paling informatif untuk mendukung pengambilan keputusan.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3046"/>
                </a:solidFill>
              </a:defRPr>
            </a:pPr>
            <a:r>
              <a:t>7. Rekomendasi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78"/>
                </a:solidFill>
              </a:defRPr>
            </a:pPr>
            <a:r>
              <a:t>Langkah yang dapat diterapkan setelah 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37"/>
                </a:solidFill>
              </a:defRPr>
            </a:pPr>
            <a:r>
              <a:t>Pastikan dataset bisnis memiliki atribut waktu, produk, pelanggan, wilayah, kategori, dan nilai transaksi.</a:t>
            </a:r>
          </a:p>
          <a:p>
            <a:pPr>
              <a:spcAft>
                <a:spcPts val="1000"/>
              </a:spcAft>
              <a:defRPr sz="1800">
                <a:solidFill>
                  <a:srgbClr val="2D2D37"/>
                </a:solidFill>
              </a:defRPr>
            </a:pPr>
            <a:r>
              <a:t>Gunakan segmentasi untuk memahami kelompok data yang berbeda.</a:t>
            </a:r>
          </a:p>
          <a:p>
            <a:pPr>
              <a:spcAft>
                <a:spcPts val="1000"/>
              </a:spcAft>
              <a:defRPr sz="1800">
                <a:solidFill>
                  <a:srgbClr val="2D2D37"/>
                </a:solidFill>
              </a:defRPr>
            </a:pPr>
            <a:r>
              <a:t>Validasi outlier sebelum melakukan penghapusan atau perubahan.</a:t>
            </a:r>
          </a:p>
          <a:p>
            <a:pPr>
              <a:spcAft>
                <a:spcPts val="1000"/>
              </a:spcAft>
              <a:defRPr sz="1800">
                <a:solidFill>
                  <a:srgbClr val="2D2D37"/>
                </a:solidFill>
              </a:defRPr>
            </a:pPr>
            <a:r>
              <a:t>Gunakan dashboard untuk memonitor KPI secara berkala.</a:t>
            </a:r>
          </a:p>
          <a:p>
            <a:pPr>
              <a:spcAft>
                <a:spcPts val="1000"/>
              </a:spcAft>
              <a:defRPr sz="1800">
                <a:solidFill>
                  <a:srgbClr val="2D2D37"/>
                </a:solidFill>
              </a:defRPr>
            </a:pPr>
            <a:r>
              <a:t>Fokuskan analisis pada variabel yang paling informatif.</a:t>
            </a:r>
          </a:p>
          <a:p>
            <a:pPr>
              <a:spcAft>
                <a:spcPts val="1000"/>
              </a:spcAft>
              <a:defRPr sz="1800">
                <a:solidFill>
                  <a:srgbClr val="2D2D37"/>
                </a:solidFill>
              </a:defRPr>
            </a:pPr>
            <a:r>
              <a:t>Lakukan evaluasi secara berkala agar keputusan tetap sesuai kondisi data terbaru.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3046"/>
                </a:solidFill>
              </a:defRPr>
            </a:pPr>
            <a:r>
              <a:t>Kesimpulan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6E78"/>
                </a:solidFill>
              </a:defRPr>
            </a:pPr>
            <a:r>
              <a:t>Hasil akhir 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33046"/>
                </a:solidFill>
              </a:defRPr>
            </a:pPr>
            <a:r>
              <a:t>EDA membantu memahami data sebelum digunakan untuk analisis atau pengambilan keputusan.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9875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37"/>
                </a:solidFill>
              </a:defRPr>
            </a:pPr>
            <a:r>
              <a:t>Dataset berhasil dipahami melalui statistik deskriptif.</a:t>
            </a:r>
          </a:p>
          <a:p>
            <a:pPr>
              <a:spcAft>
                <a:spcPts val="1000"/>
              </a:spcAft>
              <a:defRPr sz="1800">
                <a:solidFill>
                  <a:srgbClr val="2D2D37"/>
                </a:solidFill>
              </a:defRPr>
            </a:pPr>
            <a:r>
              <a:t>Visualisasi membantu menemukan pola dan hubungan antarvariabel.</a:t>
            </a:r>
          </a:p>
          <a:p>
            <a:pPr>
              <a:spcAft>
                <a:spcPts val="1000"/>
              </a:spcAft>
              <a:defRPr sz="1800">
                <a:solidFill>
                  <a:srgbClr val="2D2D37"/>
                </a:solidFill>
              </a:defRPr>
            </a:pPr>
            <a:r>
              <a:t>Segmentasi membantu melihat karakteristik kelompok data.</a:t>
            </a:r>
          </a:p>
          <a:p>
            <a:pPr>
              <a:spcAft>
                <a:spcPts val="1000"/>
              </a:spcAft>
              <a:defRPr sz="1800">
                <a:solidFill>
                  <a:srgbClr val="2D2D37"/>
                </a:solidFill>
              </a:defRPr>
            </a:pPr>
            <a:r>
              <a:t>Outlier perlu divalidasi sebelum dilakukan tindakan.</a:t>
            </a:r>
          </a:p>
          <a:p>
            <a:pPr>
              <a:spcAft>
                <a:spcPts val="1000"/>
              </a:spcAft>
              <a:defRPr sz="1800">
                <a:solidFill>
                  <a:srgbClr val="2D2D37"/>
                </a:solidFill>
              </a:defRPr>
            </a:pPr>
            <a:r>
              <a:t>Dashboard dapat digunakan untuk monitoring pada data bisnis nyata.</a:t>
            </a:r>
          </a:p>
          <a:p>
            <a:pPr>
              <a:spcAft>
                <a:spcPts val="1000"/>
              </a:spcAft>
              <a:defRPr sz="1800">
                <a:solidFill>
                  <a:srgbClr val="2D2D37"/>
                </a:solidFill>
              </a:defRPr>
            </a:pPr>
            <a:r>
              <a:t>Hasil EDA dapat menjadi dasar untuk analisis dan keputusan berikutnya.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9387" y="2529840"/>
            <a:ext cx="119329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233046"/>
                </a:solidFill>
              </a:defRPr>
            </a:pPr>
            <a:r>
              <a:rPr sz="6000" dirty="0"/>
              <a:t>TERIMA KASIH 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E6E78"/>
                </a:solidFill>
              </a:defRPr>
            </a:pPr>
            <a:r>
              <a:rPr dirty="0"/>
              <a:t>Final Project — Exploratory Data Analysis </a:t>
            </a:r>
            <a:r>
              <a:rPr dirty="0" err="1"/>
              <a:t>Lanjutan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560</Words>
  <Application>Microsoft Office PowerPoint</Application>
  <PresentationFormat>Widescreen</PresentationFormat>
  <Paragraphs>94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Windows User</cp:lastModifiedBy>
  <cp:revision>2</cp:revision>
  <dcterms:created xsi:type="dcterms:W3CDTF">2013-01-27T09:14:16Z</dcterms:created>
  <dcterms:modified xsi:type="dcterms:W3CDTF">2026-09-04T02:54:11Z</dcterms:modified>
  <cp:category/>
</cp:coreProperties>
</file>